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30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482775"/>
            <a:ext cx="1015901" cy="5075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787426"/>
            <a:ext cx="577935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悟空出行 AI 转型全栈方案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2000" y="2616101"/>
            <a:ext cx="57793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0"/>
              </a:spcAft>
              <a:buNone/>
            </a:pPr>
            <a:r>
              <a:rPr lang="en-US" sz="20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Ralph-Lisa Loop + Margay 的企业级落地路径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3400276"/>
            <a:ext cx="57793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Margay</a:t>
            </a:r>
            <a:r>
              <a:rPr lang="zh-CN" alt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转型的核心命题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7334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90625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转型三原则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50" y="155882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7013" y="1623864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9552" y="1558826"/>
            <a:ext cx="3575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 AI 协同，而非 AI 替代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9552" y="1793677"/>
            <a:ext cx="35756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做初稿/执行，人做决策/确认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05710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013" y="212214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9552" y="2057102"/>
            <a:ext cx="3575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自顶向下推动，自下向上落实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9552" y="2291953"/>
            <a:ext cx="35756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管理层定方向给资源，一线团队选场景出成果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55537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7013" y="2620417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9552" y="2555379"/>
            <a:ext cx="3575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小团队切入，扩充战果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9552" y="2790230"/>
            <a:ext cx="35756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个痛感最强的团队打样 → 出成果后复制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1190625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悟空出行问题全景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98950" y="1558826"/>
            <a:ext cx="3937099" cy="615553"/>
          </a:xfrm>
          <a:prstGeom prst="roundRect">
            <a:avLst>
              <a:gd name="adj" fmla="val 123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18000" y="1558826"/>
            <a:ext cx="0" cy="615553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89450" y="1660327"/>
            <a:ext cx="36660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开发层：产研部门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89450" y="1885652"/>
            <a:ext cx="36660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复杂系统重构 / 代码质量 / 测试 / 提效量化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8950" y="2250579"/>
            <a:ext cx="3937099" cy="615553"/>
          </a:xfrm>
          <a:prstGeom prst="roundRect">
            <a:avLst>
              <a:gd name="adj" fmla="val 123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18000" y="2250579"/>
            <a:ext cx="0" cy="615553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89450" y="2352080"/>
            <a:ext cx="36660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业务层：运营 + 客服 + 供应商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9450" y="2577405"/>
            <a:ext cx="36660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内容运营 / 客服智能化 / 投放分析 / 审核自动化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950" y="2942332"/>
            <a:ext cx="3937099" cy="615553"/>
          </a:xfrm>
          <a:prstGeom prst="roundRect">
            <a:avLst>
              <a:gd name="adj" fmla="val 123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18000" y="2942332"/>
            <a:ext cx="0" cy="615553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89450" y="3043833"/>
            <a:ext cx="36660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基础设施层：安全与运维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89450" y="3269159"/>
            <a:ext cx="36660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数据泄露防控 / 权限隔离 / 运维风控 / 内网改造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950" y="4632573"/>
            <a:ext cx="8128099" cy="383977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27000" y="4632573"/>
            <a:ext cx="0" cy="3839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23751" y="4734074"/>
            <a:ext cx="7889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关键洞察：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需要的不是更多 AI 工具，而是</a:t>
            </a: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结构化的人 AI 协作框架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——理顺人和 AI 的关系，重构工作流程。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403300"/>
            <a:ext cx="340892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62000" y="2527250"/>
            <a:ext cx="762000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2755850"/>
            <a:ext cx="34089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开发测试 Harness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3454301"/>
            <a:ext cx="34089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Ralph-Lisa Loop + 测试金字塔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开发工作流：原型即需求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88975"/>
            <a:ext cx="40287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正确的产研流程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38126"/>
            <a:ext cx="3949750" cy="656481"/>
          </a:xfrm>
          <a:prstGeom prst="roundRect">
            <a:avLst>
              <a:gd name="adj" fmla="val 11607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539627"/>
            <a:ext cx="37697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产品原型（设计稿）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774478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EF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需求的真正来源，人做决策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8453" y="2145357"/>
            <a:ext cx="40287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405658"/>
            <a:ext cx="3949750" cy="675680"/>
          </a:xfrm>
          <a:prstGeom prst="roundRect">
            <a:avLst>
              <a:gd name="adj" fmla="val 11278"/>
            </a:avLst>
          </a:prstGeom>
          <a:solidFill>
            <a:srgbClr val="E8F8F5"/>
          </a:solidFill>
          <a:ln w="9525">
            <a:solidFill>
              <a:srgbClr val="0D737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426" y="2516684"/>
            <a:ext cx="37503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文档（Markdown）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426" y="2751534"/>
            <a:ext cx="37503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辅助理解原型，不是需求本身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8453" y="3132088"/>
            <a:ext cx="40287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392388"/>
            <a:ext cx="3949750" cy="656481"/>
          </a:xfrm>
          <a:prstGeom prst="roundRect">
            <a:avLst>
              <a:gd name="adj" fmla="val 11607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493889"/>
            <a:ext cx="37697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双 Agent 审核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901" y="3728740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审核 PRD 逻辑完整性和与原型一致性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453" y="4099620"/>
            <a:ext cx="40287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950" y="4359920"/>
            <a:ext cx="3949750" cy="656630"/>
          </a:xfrm>
          <a:prstGeom prst="roundRect">
            <a:avLst>
              <a:gd name="adj" fmla="val 11605"/>
            </a:avLst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4461421"/>
            <a:ext cx="37697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 + 对抗性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901" y="4696271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Ralph 编码 → Lisa 审核 → 测试覆盖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1088975"/>
            <a:ext cx="40287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关键理念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86300" y="1412825"/>
            <a:ext cx="3949750" cy="731639"/>
          </a:xfrm>
          <a:prstGeom prst="roundRect">
            <a:avLst>
              <a:gd name="adj" fmla="val 104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05350" y="1412825"/>
            <a:ext cx="0" cy="731639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51350" y="1514326"/>
            <a:ext cx="37309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不是写 PRD 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1350" y="1720602"/>
            <a:ext cx="37309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帮助验证 PRD 是否准确描述了原型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51350" y="1881783"/>
            <a:ext cx="37309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天然承担审核角色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6300" y="2195215"/>
            <a:ext cx="3949750" cy="731639"/>
          </a:xfrm>
          <a:prstGeom prst="roundRect">
            <a:avLst>
              <a:gd name="adj" fmla="val 104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05350" y="2195215"/>
            <a:ext cx="0" cy="731639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51350" y="2296716"/>
            <a:ext cx="37309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对抗性 Review 保质量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2502991"/>
            <a:ext cx="37309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AI 交叉审核（Claude 写 / Codex 审）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51350" y="2664172"/>
            <a:ext cx="37309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阻塞式门禁：不通过 = 不合并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86300" y="2977604"/>
            <a:ext cx="3949750" cy="731639"/>
          </a:xfrm>
          <a:prstGeom prst="roundRect">
            <a:avLst>
              <a:gd name="adj" fmla="val 104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05350" y="2977604"/>
            <a:ext cx="0" cy="731639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51350" y="3079105"/>
            <a:ext cx="37309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知识随开发沉淀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51350" y="3285381"/>
            <a:ext cx="37309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每轮共识自动归档为 Markdown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51350" y="3446562"/>
            <a:ext cx="37309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版本管理，可追溯可回滚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Ralph-Lisa Loop：双 AI 交叉 Review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15926"/>
            <a:ext cx="39833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Turn-Based 工作流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6665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721197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9701" y="1628626"/>
            <a:ext cx="3473500" cy="380702"/>
          </a:xfrm>
          <a:prstGeom prst="roundRect">
            <a:avLst>
              <a:gd name="adj" fmla="val 200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2101" y="1730127"/>
            <a:ext cx="323207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[PLAN]</a:t>
            </a:r>
            <a:r>
              <a:rPr lang="en-US" sz="10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Ralph 提交方案规划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7551" y="2110829"/>
            <a:ext cx="25301" cy="126950"/>
          </a:xfrm>
          <a:prstGeom prst="rect">
            <a:avLst/>
          </a:prstGeom>
          <a:solidFill>
            <a:srgbClr val="BDC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37723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431852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9701" y="2339280"/>
            <a:ext cx="3473500" cy="380702"/>
          </a:xfrm>
          <a:prstGeom prst="roundRect">
            <a:avLst>
              <a:gd name="adj" fmla="val 200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2101" y="2440781"/>
            <a:ext cx="323207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审核 → </a:t>
            </a: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[PASS]</a:t>
            </a:r>
            <a:r>
              <a:rPr lang="en-US" sz="10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或 </a:t>
            </a: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[NEEDS_WORK]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7551" y="2821484"/>
            <a:ext cx="25301" cy="126950"/>
          </a:xfrm>
          <a:prstGeom prst="rect">
            <a:avLst/>
          </a:prstGeom>
          <a:solidFill>
            <a:srgbClr val="BDC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950" y="308788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06" y="3142506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9701" y="3049935"/>
            <a:ext cx="3473500" cy="380702"/>
          </a:xfrm>
          <a:prstGeom prst="roundRect">
            <a:avLst>
              <a:gd name="adj" fmla="val 200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2101" y="3151436"/>
            <a:ext cx="323207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[CODE]</a:t>
            </a:r>
            <a:r>
              <a:rPr lang="en-US" sz="10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Ralph 实现代码 + 测试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7551" y="3532138"/>
            <a:ext cx="25301" cy="126950"/>
          </a:xfrm>
          <a:prstGeom prst="rect">
            <a:avLst/>
          </a:prstGeom>
          <a:solidFill>
            <a:srgbClr val="BDC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950" y="379854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1506" y="3853160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9701" y="3760589"/>
            <a:ext cx="3473500" cy="380702"/>
          </a:xfrm>
          <a:prstGeom prst="roundRect">
            <a:avLst>
              <a:gd name="adj" fmla="val 200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92101" y="3862090"/>
            <a:ext cx="323207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Review → 阻塞式质量门禁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7551" y="4242792"/>
            <a:ext cx="25301" cy="126950"/>
          </a:xfrm>
          <a:prstGeom prst="rect">
            <a:avLst/>
          </a:prstGeom>
          <a:solidFill>
            <a:srgbClr val="BDC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7950" y="450919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506" y="4563814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9701" y="4471243"/>
            <a:ext cx="3473500" cy="380702"/>
          </a:xfrm>
          <a:prstGeom prst="roundRect">
            <a:avLst>
              <a:gd name="adj" fmla="val 200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2101" y="4572744"/>
            <a:ext cx="323207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[CONSENSUS]</a:t>
            </a:r>
            <a:r>
              <a:rPr lang="en-US" sz="10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双方达成一致 → 进入下一步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0651" y="1215926"/>
            <a:ext cx="39835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核心设计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30651" y="1628626"/>
            <a:ext cx="3905399" cy="948928"/>
          </a:xfrm>
          <a:prstGeom prst="roundRect">
            <a:avLst>
              <a:gd name="adj" fmla="val 803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83051" y="1806327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交叉模型盲区互补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83051" y="2012603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Ralph (Claude) 写 → Lisa (Codex) 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83051" y="2218879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不同模型 = 不同盲区 = 更高捕获率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0651" y="2679055"/>
            <a:ext cx="3905399" cy="948928"/>
          </a:xfrm>
          <a:prstGeom prst="roundRect">
            <a:avLst>
              <a:gd name="adj" fmla="val 803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83051" y="2856756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阻塞式 Review（非建议式）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83051" y="3063032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[NEEDS_WORK] 直接阻塞合并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83051" y="3269307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不通过 = 不能继续，杜绝"看一眼就过"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30651" y="3729484"/>
            <a:ext cx="3905399" cy="948928"/>
          </a:xfrm>
          <a:prstGeom prst="roundRect">
            <a:avLst>
              <a:gd name="adj" fmla="val 803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83051" y="3907185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轮持久化上下文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83051" y="4113461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记得之前所有讨论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83051" y="4319736"/>
            <a:ext cx="3672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机制自动沉淀每轮共识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三层分级机制（回答 Q4）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15926"/>
            <a:ext cx="4686449" cy="1066354"/>
          </a:xfrm>
          <a:prstGeom prst="roundRect">
            <a:avLst>
              <a:gd name="adj" fmla="val 9528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393627"/>
            <a:ext cx="43657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第一层：AI 自动 Review（Lisa）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1692027"/>
            <a:ext cx="4365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代码风格、类型安全、已知反模式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01" y="1898303"/>
            <a:ext cx="4365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测试覆盖检查、回归检测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409230"/>
            <a:ext cx="4686449" cy="1066354"/>
          </a:xfrm>
          <a:prstGeom prst="roundRect">
            <a:avLst>
              <a:gd name="adj" fmla="val 952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1101" y="2586930"/>
            <a:ext cx="43657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第二层：交叉模型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1101" y="2885331"/>
            <a:ext cx="4365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写 → Codex 审，不同盲区互补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101" y="3091607"/>
            <a:ext cx="4365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捕获单模型无法发现的问题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3602534"/>
            <a:ext cx="4686449" cy="1066354"/>
          </a:xfrm>
          <a:prstGeom prst="roundRect">
            <a:avLst>
              <a:gd name="adj" fmla="val 952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1101" y="3780234"/>
            <a:ext cx="43657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第三层：人工 Review（仅关键路径）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101" y="4078635"/>
            <a:ext cx="4365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EF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核心业务逻辑、架构决策、安全敏感代码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101" y="4284911"/>
            <a:ext cx="43657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EF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人只需聚焦 15% 高风险变更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1850" y="1461195"/>
            <a:ext cx="31866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覆盖率分布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1850" y="2000845"/>
            <a:ext cx="2793802" cy="253901"/>
          </a:xfrm>
          <a:prstGeom prst="roundRect">
            <a:avLst>
              <a:gd name="adj" fmla="val 20008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38800" y="2056358"/>
            <a:ext cx="334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11850" y="2280047"/>
            <a:ext cx="31866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自动拦截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11850" y="2664023"/>
            <a:ext cx="825401" cy="253901"/>
          </a:xfrm>
          <a:prstGeom prst="roundRect">
            <a:avLst>
              <a:gd name="adj" fmla="val 2000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38800" y="2719536"/>
            <a:ext cx="259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11850" y="2943225"/>
            <a:ext cx="31866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交叉模型捕获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11850" y="3327202"/>
            <a:ext cx="825401" cy="253901"/>
          </a:xfrm>
          <a:prstGeom prst="roundRect">
            <a:avLst>
              <a:gd name="adj" fmla="val 2000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38800" y="3382714"/>
            <a:ext cx="259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1850" y="3606403"/>
            <a:ext cx="31866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人工精准 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1850" y="4079379"/>
            <a:ext cx="3124200" cy="564952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530900" y="4079379"/>
            <a:ext cx="0" cy="56495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702350" y="4180880"/>
            <a:ext cx="28369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 Review 工作量降低 85%，质量反而提升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"前期提效、后期失控"的本质与解法（Q5）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本质：缺乏结构化约束，技术债累积速度远超人工开发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63576"/>
            <a:ext cx="8128099" cy="382786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841599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60350" y="1552426"/>
            <a:ext cx="168184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4017" y="1552426"/>
            <a:ext cx="252269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失控原因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2043" y="1552426"/>
            <a:ext cx="31534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约束机制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950" y="2206526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60350" y="1935212"/>
            <a:ext cx="16818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14017" y="1935212"/>
            <a:ext cx="25226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review 直接合并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2043" y="1935212"/>
            <a:ext cx="31534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强制 review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，[NEEDS_WORK] 阻塞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950" y="2571452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60350" y="2300139"/>
            <a:ext cx="16818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14017" y="2300139"/>
            <a:ext cx="25226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测试缺失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2043" y="2300139"/>
            <a:ext cx="31534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[CODE] 必须包含测试结果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，否则被拒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950" y="2936379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0350" y="2665065"/>
            <a:ext cx="16818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14017" y="2665065"/>
            <a:ext cx="25226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架构腐化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2043" y="2665065"/>
            <a:ext cx="31534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第一轮强制 [PLAN]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，人审架构决策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950" y="3301305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0350" y="3029992"/>
            <a:ext cx="16818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14017" y="3029992"/>
            <a:ext cx="25226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知识丢失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2043" y="3029992"/>
            <a:ext cx="31534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每轮共识沉淀到 Memory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950" y="3407569"/>
            <a:ext cx="3968800" cy="964853"/>
          </a:xfrm>
          <a:prstGeom prst="rect">
            <a:avLst/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31763" y="3407569"/>
            <a:ext cx="0" cy="964853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33276" y="3509070"/>
            <a:ext cx="3637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AI 开发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276" y="3747195"/>
            <a:ext cx="3637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写完直接用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3276" y="3921770"/>
            <a:ext cx="3637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后期集中爆发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3276" y="4096345"/>
            <a:ext cx="3637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维护成本指数增长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7250" y="3407569"/>
            <a:ext cx="3968800" cy="964853"/>
          </a:xfrm>
          <a:prstGeom prst="rect">
            <a:avLst/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91063" y="3407569"/>
            <a:ext cx="0" cy="964853"/>
          </a:xfrm>
          <a:prstGeom prst="line">
            <a:avLst/>
          </a:prstGeom>
          <a:noFill/>
          <a:ln w="47625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892576" y="3509070"/>
            <a:ext cx="3637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约束开发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576" y="3747195"/>
            <a:ext cx="3637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每行代码经过双 AI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576" y="3921770"/>
            <a:ext cx="3637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问题前置拦截，债务不累积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576" y="4096345"/>
            <a:ext cx="3637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知识自动沉淀，新人可接手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测试金字塔与"伪覆盖"防治（Q6-Q8）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813173"/>
            <a:ext cx="3905250" cy="434876"/>
          </a:xfrm>
          <a:prstGeom prst="roundRect">
            <a:avLst>
              <a:gd name="adj" fmla="val 175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959173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7402" y="1940123"/>
            <a:ext cx="15254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全自动生成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324249"/>
            <a:ext cx="3905250" cy="434876"/>
          </a:xfrm>
          <a:prstGeom prst="roundRect">
            <a:avLst>
              <a:gd name="adj" fmla="val 17522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2470249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7402" y="2451199"/>
            <a:ext cx="16731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模块集成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生成 + 人确认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835325"/>
            <a:ext cx="3905250" cy="434876"/>
          </a:xfrm>
          <a:prstGeom prst="roundRect">
            <a:avLst>
              <a:gd name="adj" fmla="val 17522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2981325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7402" y="2962275"/>
            <a:ext cx="20437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Playwright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自动化关键路径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3346400"/>
            <a:ext cx="3905250" cy="434876"/>
          </a:xfrm>
          <a:prstGeom prst="roundRect">
            <a:avLst>
              <a:gd name="adj" fmla="val 1752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3492401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7402" y="3473351"/>
            <a:ext cx="16621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质量评估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模型输出评测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857476"/>
            <a:ext cx="3905250" cy="434876"/>
          </a:xfrm>
          <a:prstGeom prst="roundRect">
            <a:avLst>
              <a:gd name="adj" fmla="val 1752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651" y="4003477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7402" y="3984427"/>
            <a:ext cx="1532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浸泡/混沌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上线后持续跑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0651" y="1215926"/>
            <a:ext cx="39835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防"伪覆盖"三板斧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0651" y="1654076"/>
            <a:ext cx="2072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35302" y="1654076"/>
            <a:ext cx="367276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关键路径优先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先定义 P0 路径（用户痛感最大的），再检查是否覆盖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0651" y="2085677"/>
            <a:ext cx="2072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35302" y="2085677"/>
            <a:ext cx="367276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状态矩阵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每个功能标记 verified / partial / unverified，不看百分比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0651" y="2517279"/>
            <a:ext cx="2072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35302" y="2517279"/>
            <a:ext cx="339632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变异测试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故意改代码看测试能否 catch，测试框架自动化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0651" y="2821930"/>
            <a:ext cx="3905399" cy="126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30651" y="2961531"/>
            <a:ext cx="398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可直接上线的测试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30651" y="3291632"/>
            <a:ext cx="2072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35302" y="3291632"/>
            <a:ext cx="207213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接口契约测试、回归测试、性能基线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0651" y="3545532"/>
            <a:ext cx="207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35302" y="3697932"/>
            <a:ext cx="29105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 E2E、安全测试 → 需人确认断言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知识工程：Markdown + Git，而非 RAG 中心（Q3）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40287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知识体系四支柱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38275"/>
            <a:ext cx="3949750" cy="777478"/>
          </a:xfrm>
          <a:prstGeom prst="roundRect">
            <a:avLst>
              <a:gd name="adj" fmla="val 980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539776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知识文件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1765102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业务规则/架构决策/接口契约全部 Markdown 承载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939677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直接读文件，无需向量化步骤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279154"/>
            <a:ext cx="3949750" cy="777478"/>
          </a:xfrm>
          <a:prstGeom prst="roundRect">
            <a:avLst>
              <a:gd name="adj" fmla="val 980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2380655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版本管理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2605980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所有知识变更可追溯、可 diff、可回滚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4901" y="2780556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不同团队不同仓库，天然权限隔离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120033"/>
            <a:ext cx="3949750" cy="602903"/>
          </a:xfrm>
          <a:prstGeom prst="roundRect">
            <a:avLst>
              <a:gd name="adj" fmla="val 1263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221534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规范注入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901" y="3446859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定义项目规范，AI 启动时自动加载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786336"/>
            <a:ext cx="3949750" cy="602903"/>
          </a:xfrm>
          <a:prstGeom prst="roundRect">
            <a:avLst>
              <a:gd name="adj" fmla="val 1263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4901" y="3887837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工具暴露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4901" y="4113163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直接调用内部 API 获取实时数据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6300" y="1114425"/>
            <a:ext cx="40287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不是知识管理方案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86300" y="1438275"/>
            <a:ext cx="3949750" cy="952054"/>
          </a:xfrm>
          <a:prstGeom prst="roundRect">
            <a:avLst>
              <a:gd name="adj" fmla="val 8004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3250" y="1539776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的局限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3250" y="1765102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是"搜索"，不是"理解"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3250" y="1939677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模型需要结构化上下文，不是检索片段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3250" y="2114252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缺乏版本管理和协作编辑能力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6300" y="2491829"/>
            <a:ext cx="40287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的正确定位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86300" y="2790230"/>
            <a:ext cx="3949750" cy="739378"/>
          </a:xfrm>
          <a:prstGeom prst="roundRect">
            <a:avLst>
              <a:gd name="adj" fmla="val 1030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3250" y="2904381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作为辅助检索手段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3250" y="3078956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从大量文档中快速定位相关内容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3250" y="3253532"/>
            <a:ext cx="3769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但不作为知识体系的骨架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403300"/>
            <a:ext cx="3109567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62000" y="2527250"/>
            <a:ext cx="762000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2755850"/>
            <a:ext cx="31095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业务 Harness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3454301"/>
            <a:ext cx="31095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Margay 的全栈业务自动化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Margay 平台架构：三层 Agent 体系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52525"/>
            <a:ext cx="1917650" cy="930027"/>
          </a:xfrm>
          <a:prstGeom prst="roundRect">
            <a:avLst>
              <a:gd name="adj" fmla="val 10924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222" y="1304925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内容运营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4222" y="1555700"/>
            <a:ext cx="16451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小红书选题/撰写/发布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4222" y="1742926"/>
            <a:ext cx="16451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竞品监控 + 日报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78001" y="1152525"/>
            <a:ext cx="1917799" cy="930027"/>
          </a:xfrm>
          <a:prstGeom prst="roundRect">
            <a:avLst>
              <a:gd name="adj" fmla="val 10924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14271" y="1304925"/>
            <a:ext cx="1645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客服智能化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14271" y="1555700"/>
            <a:ext cx="16452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自助引导 / 夜间接待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14271" y="1742926"/>
            <a:ext cx="16452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全量质检 / 智能排班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1152525"/>
            <a:ext cx="1917650" cy="930027"/>
          </a:xfrm>
          <a:prstGeom prst="roundRect">
            <a:avLst>
              <a:gd name="adj" fmla="val 10924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4471" y="1304925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4471" y="1555700"/>
            <a:ext cx="16451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投放分析 / 订单复盘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84471" y="1742926"/>
            <a:ext cx="16451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用户调研 / 费用规划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18250" y="1152525"/>
            <a:ext cx="1917799" cy="930027"/>
          </a:xfrm>
          <a:prstGeom prst="roundRect">
            <a:avLst>
              <a:gd name="adj" fmla="val 10924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4520" y="1304925"/>
            <a:ext cx="1645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供应商管理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4520" y="1555700"/>
            <a:ext cx="16452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二次校验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4520" y="1742926"/>
            <a:ext cx="16452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违章扣款审核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6669" y="2209502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950" y="2574578"/>
            <a:ext cx="8128099" cy="1161455"/>
          </a:xfrm>
          <a:prstGeom prst="roundRect">
            <a:avLst>
              <a:gd name="adj" fmla="val 8748"/>
            </a:avLst>
          </a:prstGeom>
          <a:solidFill>
            <a:srgbClr val="F8F9FA"/>
          </a:solidFill>
          <a:ln w="19050">
            <a:solidFill>
              <a:srgbClr val="0D737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5079" y="2771329"/>
            <a:ext cx="77338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Margay 平台层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92696" y="3145780"/>
            <a:ext cx="1270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多模型接入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92696" y="3352056"/>
            <a:ext cx="1270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Codex / Gemini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2664" y="3145780"/>
            <a:ext cx="839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工具系统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2664" y="3352056"/>
            <a:ext cx="8394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对接内部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46412" y="3145780"/>
            <a:ext cx="8161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系统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6412" y="3352056"/>
            <a:ext cx="8161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可复用业务能力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37012" y="3145780"/>
            <a:ext cx="8161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37012" y="3313956"/>
            <a:ext cx="8161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细粒度权限控制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26581" y="3145780"/>
            <a:ext cx="9213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持久化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26581" y="3352056"/>
            <a:ext cx="9213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上下文不丢失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6669" y="3862983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7950" y="4228058"/>
            <a:ext cx="8128099" cy="723602"/>
          </a:xfrm>
          <a:prstGeom prst="roundRect">
            <a:avLst>
              <a:gd name="adj" fmla="val 14041"/>
            </a:avLst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051731" y="4405759"/>
            <a:ext cx="712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知识库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51731" y="4612035"/>
            <a:ext cx="7124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带权限过滤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00482" y="4405759"/>
            <a:ext cx="10796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API Gateway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00482" y="4612035"/>
            <a:ext cx="10796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统一鉴权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15815" y="4405759"/>
            <a:ext cx="777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数据脱敏网关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15815" y="4612035"/>
            <a:ext cx="777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敏感数据过滤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业务场景落地方案：运营 + 客服 + 供应商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2624733" cy="743248"/>
          </a:xfrm>
          <a:prstGeom prst="roundRect">
            <a:avLst>
              <a:gd name="adj" fmla="val 102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123950"/>
            <a:ext cx="2624733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34901" y="1234976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小红书全流程自动化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1454051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趋势分析 → 选题 → AI 撰写 → 人审 → 发布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1624161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xhs-content + cron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59634" y="1114425"/>
            <a:ext cx="2624733" cy="743248"/>
          </a:xfrm>
          <a:prstGeom prst="roundRect">
            <a:avLst>
              <a:gd name="adj" fmla="val 102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9634" y="1123950"/>
            <a:ext cx="2624733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386584" y="1234976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投放分析与费用规划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6584" y="1454051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 MCP 接入 → AI 多维分析 → 投放建议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6584" y="1624161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+ 数据分析 Agent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11317" y="1114425"/>
            <a:ext cx="2624733" cy="743248"/>
          </a:xfrm>
          <a:prstGeom prst="roundRect">
            <a:avLst>
              <a:gd name="adj" fmla="val 102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11317" y="1123950"/>
            <a:ext cx="2624733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38267" y="1234976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竞品监控自动化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38267" y="1454051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定时爬取价格/活动 → AI 对比 → 每日推送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38267" y="1624161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+ 通知 Skill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1933873"/>
            <a:ext cx="2624733" cy="887909"/>
          </a:xfrm>
          <a:prstGeom prst="roundRect">
            <a:avLst>
              <a:gd name="adj" fmla="val 85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7950" y="1943398"/>
            <a:ext cx="2624733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34901" y="2054423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 AI 替代 + 增强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4901" y="2273498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自助引导 / 夜间全 AI / 自动摘要 / 通知外呼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4901" y="2418159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全量质检 / 客诉分析 / 智能排班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4901" y="2588270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Agent + 质检 Skill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59634" y="1933873"/>
            <a:ext cx="2624733" cy="887909"/>
          </a:xfrm>
          <a:prstGeom prst="roundRect">
            <a:avLst>
              <a:gd name="adj" fmla="val 85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59634" y="1943398"/>
            <a:ext cx="2624733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386584" y="2054423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品牌方 AI 对接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6584" y="2273498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初筛沟通 → 需求整理 → 推送人工决策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6584" y="2443609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Agent + 工单系统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11317" y="1933873"/>
            <a:ext cx="2624733" cy="887909"/>
          </a:xfrm>
          <a:prstGeom prst="roundRect">
            <a:avLst>
              <a:gd name="adj" fmla="val 85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011317" y="1943398"/>
            <a:ext cx="2624733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138267" y="2054423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供应商审核自动化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38267" y="2273498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二次校验（减少 60%+ 人力）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38267" y="2418159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违章扣款关联性自动判断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38267" y="2588270"/>
            <a:ext cx="241824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 Agent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403300"/>
            <a:ext cx="340892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62000" y="2527250"/>
            <a:ext cx="762000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2755850"/>
            <a:ext cx="34089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 Harness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3454301"/>
            <a:ext cx="34089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 / 操作风控 / 审计追溯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安全体系：分层防御 + 纵深控制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2633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网络与部署隔离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457176"/>
            <a:ext cx="2582317" cy="682377"/>
          </a:xfrm>
          <a:prstGeom prst="roundRect">
            <a:avLst>
              <a:gd name="adj" fmla="val 93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457176"/>
            <a:ext cx="0" cy="68237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73001" y="1546027"/>
            <a:ext cx="2336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模型私有部署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3001" y="1752302"/>
            <a:ext cx="23361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核心业务只走内网模型（vLLM + Qwen/DeepSeek）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2202954"/>
            <a:ext cx="2582317" cy="539502"/>
          </a:xfrm>
          <a:prstGeom prst="roundRect">
            <a:avLst>
              <a:gd name="adj" fmla="val 1177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202954"/>
            <a:ext cx="0" cy="53950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73001" y="2291804"/>
            <a:ext cx="2336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网络分区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3001" y="2498080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推理节点独立 VLAN，与生产 DB 隔离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2805857"/>
            <a:ext cx="2582317" cy="501402"/>
          </a:xfrm>
          <a:prstGeom prst="roundRect">
            <a:avLst>
              <a:gd name="adj" fmla="val 126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805857"/>
            <a:ext cx="0" cy="50140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3001" y="2894707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3001" y="3062883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AI 访问走统一网关：鉴权+限流+日志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3370659"/>
            <a:ext cx="2582317" cy="695027"/>
          </a:xfrm>
          <a:prstGeom prst="roundRect">
            <a:avLst>
              <a:gd name="adj" fmla="val 913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370659"/>
            <a:ext cx="0" cy="69502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73001" y="3459510"/>
            <a:ext cx="2336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最小权限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3001" y="3665786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工具声明限定 AI 可访问范围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3001" y="3821311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Margay Permission 按工作区隔离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80767" y="1114425"/>
            <a:ext cx="2634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数据流控制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80767" y="1457176"/>
            <a:ext cx="2582466" cy="850553"/>
          </a:xfrm>
          <a:prstGeom prst="roundRect">
            <a:avLst>
              <a:gd name="adj" fmla="val 746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99817" y="1457176"/>
            <a:ext cx="0" cy="850553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445818" y="1546027"/>
            <a:ext cx="23362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脱敏网关（入口）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45818" y="1752302"/>
            <a:ext cx="2336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手机号/身份证/银行卡 → 掩码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45818" y="1907828"/>
            <a:ext cx="2336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Key / Token → 完全过滤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45818" y="2063353"/>
            <a:ext cx="2336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业务数据 → 按角色权限放行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80767" y="2371130"/>
            <a:ext cx="2582466" cy="695027"/>
          </a:xfrm>
          <a:prstGeom prst="roundRect">
            <a:avLst>
              <a:gd name="adj" fmla="val 913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99817" y="2371130"/>
            <a:ext cx="0" cy="695027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445818" y="2459980"/>
            <a:ext cx="23362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输出审计（出口）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45818" y="2666256"/>
            <a:ext cx="2336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检测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45818" y="2821781"/>
            <a:ext cx="2336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敏感信息输出拦截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80767" y="3129558"/>
            <a:ext cx="2582466" cy="695027"/>
          </a:xfrm>
          <a:prstGeom prst="roundRect">
            <a:avLst>
              <a:gd name="adj" fmla="val 913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299817" y="3129558"/>
            <a:ext cx="0" cy="695027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445818" y="3218408"/>
            <a:ext cx="23362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知识库权限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45818" y="3424684"/>
            <a:ext cx="2336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Git 仓库权限管理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45818" y="3580209"/>
            <a:ext cx="2336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不同团队不同仓库，天然隔离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53733" y="1114425"/>
            <a:ext cx="2633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审计与合规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53733" y="1457176"/>
            <a:ext cx="2582317" cy="539502"/>
          </a:xfrm>
          <a:prstGeom prst="roundRect">
            <a:avLst>
              <a:gd name="adj" fmla="val 11770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072783" y="1457176"/>
            <a:ext cx="0" cy="53950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218783" y="1546027"/>
            <a:ext cx="2336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全量操作日志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8783" y="1752302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 AI 调用：输入/输出/时间戳/操作人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53733" y="2060079"/>
            <a:ext cx="2582317" cy="539502"/>
          </a:xfrm>
          <a:prstGeom prst="roundRect">
            <a:avLst>
              <a:gd name="adj" fmla="val 11770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072783" y="2060079"/>
            <a:ext cx="0" cy="53950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218783" y="2148929"/>
            <a:ext cx="2336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决策可回溯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8783" y="2355205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.dual-agent/ 保存每轮提交和 review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53733" y="2662982"/>
            <a:ext cx="2582317" cy="695027"/>
          </a:xfrm>
          <a:prstGeom prst="roundRect">
            <a:avLst>
              <a:gd name="adj" fmla="val 9136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072783" y="2662982"/>
            <a:ext cx="0" cy="69502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218783" y="2751832"/>
            <a:ext cx="2336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合规报告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8783" y="2958108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 AI 使用审计报告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18783" y="3113633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调用量 / 异常率 / 敏感触发次数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53733" y="3421410"/>
            <a:ext cx="2582317" cy="695027"/>
          </a:xfrm>
          <a:prstGeom prst="roundRect">
            <a:avLst>
              <a:gd name="adj" fmla="val 9136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072783" y="3421410"/>
            <a:ext cx="0" cy="69502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218783" y="3510260"/>
            <a:ext cx="2336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内网改造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18783" y="3716536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新增：脱敏代理 + AI 节点 + 审批 API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18783" y="3872061"/>
            <a:ext cx="2336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不变：现有监控/网络/审批流程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07950" y="4727674"/>
            <a:ext cx="8128099" cy="314325"/>
          </a:xfrm>
          <a:prstGeom prst="roundRect">
            <a:avLst>
              <a:gd name="adj" fmla="val 16162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07924" y="4803874"/>
            <a:ext cx="7928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原则：AI 节点是"只读消费者"，现有基础设施最小改造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运维：分阶段引入，不急于全面铺开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485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三阶段渐进路径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89025"/>
            <a:ext cx="4762500" cy="1133177"/>
          </a:xfrm>
          <a:prstGeom prst="roundRect">
            <a:avLst>
              <a:gd name="adj" fmla="val 672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489025"/>
            <a:ext cx="0" cy="1133177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98450" y="1603325"/>
            <a:ext cx="45079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阶段一：AI 辅助诊断（推荐先做）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8450" y="1828651"/>
            <a:ext cx="45079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告警降噪：AI 聚合关联告警，人处理事件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8450" y="2003227"/>
            <a:ext cx="45079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根因分析：AI 读日志推理根因，人确认处理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8450" y="2177802"/>
            <a:ext cx="45079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变更评估：AI 分析影响面，人决定执行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8450" y="2352377"/>
            <a:ext cx="4507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 AI 分工：AI 分析 → 人决策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950" y="2698403"/>
            <a:ext cx="4762500" cy="958602"/>
          </a:xfrm>
          <a:prstGeom prst="roundRect">
            <a:avLst>
              <a:gd name="adj" fmla="val 794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698403"/>
            <a:ext cx="0" cy="95860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98450" y="2812703"/>
            <a:ext cx="45079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阶段二：AI 辅助执行（需审批网关）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450" y="3038029"/>
            <a:ext cx="45079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生成操作方案 → 审批网关展示方案+风险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8450" y="3212604"/>
            <a:ext cx="45079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人工一键批准/拒绝 → 自动执行+回滚预案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8450" y="3387179"/>
            <a:ext cx="4507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核心业务永远需要人审批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950" y="3733205"/>
            <a:ext cx="4762500" cy="784027"/>
          </a:xfrm>
          <a:prstGeom prst="roundRect">
            <a:avLst>
              <a:gd name="adj" fmla="val 97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7000" y="3733205"/>
            <a:ext cx="0" cy="784027"/>
          </a:xfrm>
          <a:prstGeom prst="line">
            <a:avLst/>
          </a:prstGeom>
          <a:noFill/>
          <a:ln w="381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98450" y="3847505"/>
            <a:ext cx="45079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阶段三：智能运维（远期，需数据积累）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8450" y="4072830"/>
            <a:ext cx="45079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故障预测 / 容量规划 / 成本优化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8450" y="4247406"/>
            <a:ext cx="4507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 6-12 个月数据积累才有效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60950" y="1114425"/>
            <a:ext cx="32386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拐点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60950" y="1438275"/>
            <a:ext cx="3175099" cy="1015752"/>
          </a:xfrm>
          <a:prstGeom prst="roundRect">
            <a:avLst>
              <a:gd name="adj" fmla="val 75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13350" y="1565225"/>
            <a:ext cx="2927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 ROI 条件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13350" y="1803350"/>
            <a:ext cx="2927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 &gt; 100 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13350" y="1977926"/>
            <a:ext cx="2927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日均告警 &gt; 50 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13350" y="2152501"/>
            <a:ext cx="2927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运维团队 &gt; 5 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60950" y="2530227"/>
            <a:ext cx="3175099" cy="841177"/>
          </a:xfrm>
          <a:prstGeom prst="roundRect">
            <a:avLst>
              <a:gd name="adj" fmla="val 90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13350" y="2657177"/>
            <a:ext cx="2927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悟空出行现状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13350" y="2895302"/>
            <a:ext cx="2927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监控全覆盖、告警规模不大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13350" y="3069878"/>
            <a:ext cx="2927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部分故障已自动恢复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60950" y="3472904"/>
            <a:ext cx="3175099" cy="584002"/>
          </a:xfrm>
          <a:prstGeom prst="roundRect">
            <a:avLst>
              <a:gd name="adj" fmla="val 13048"/>
            </a:avLst>
          </a:prstGeom>
          <a:solidFill>
            <a:srgbClr val="E8F8F5"/>
          </a:solidFill>
          <a:ln w="9525">
            <a:solidFill>
              <a:srgbClr val="0D737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22875" y="3583930"/>
            <a:ext cx="29082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建议：只做阶段一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22875" y="3764905"/>
            <a:ext cx="29082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告警降噪 + 根因分析即可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提效量化评估体系（Q16）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90625"/>
            <a:ext cx="3983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五维指标体系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950" y="161761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1541" y="171598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1202" y="1609725"/>
            <a:ext cx="3439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代码交付速度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1202" y="1844576"/>
            <a:ext cx="3439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同类型需求 PR 周期对比 | Git 数据采集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14119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1541" y="223956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1202" y="2133302"/>
            <a:ext cx="3439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缺陷密度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1202" y="2368153"/>
            <a:ext cx="3439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每千行代码 bug 数对比 | Bug 系统采集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66476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1541" y="276314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1202" y="2656880"/>
            <a:ext cx="3439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轮次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1202" y="2891730"/>
            <a:ext cx="3439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平均多少轮通过 review | RLL 自动统计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318834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1541" y="3286720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1202" y="3180457"/>
            <a:ext cx="3439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测试覆盖变化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1202" y="3415308"/>
            <a:ext cx="3439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关键路径覆盖率前后对比 | 测试框架采集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371192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1541" y="381029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41202" y="3704034"/>
            <a:ext cx="3439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认知负载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1202" y="3938885"/>
            <a:ext cx="3439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开发者复杂度主观评分 | 问卷采集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0651" y="1190625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30651" y="1609725"/>
            <a:ext cx="3905399" cy="1047155"/>
          </a:xfrm>
          <a:prstGeom prst="roundRect">
            <a:avLst>
              <a:gd name="adj" fmla="val 97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08352" y="1787426"/>
            <a:ext cx="36209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对比实验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08352" y="2073176"/>
            <a:ext cx="3620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同类需求拆为两组：一组用 AI，一组传统开发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08352" y="2276177"/>
            <a:ext cx="3620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同时对比多维指标，消除需求差异干扰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0651" y="2758380"/>
            <a:ext cx="3905399" cy="1047155"/>
          </a:xfrm>
          <a:prstGeom prst="roundRect">
            <a:avLst>
              <a:gd name="adj" fmla="val 97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08352" y="2936081"/>
            <a:ext cx="36209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内建数据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08352" y="3221831"/>
            <a:ext cx="3620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每轮提交自动记录：轮次数、测试结果、Review 通过率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08352" y="3424833"/>
            <a:ext cx="3620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无需额外埋点，开箱即用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0651" y="3932486"/>
            <a:ext cx="3905399" cy="434876"/>
          </a:xfrm>
          <a:prstGeom prst="rect">
            <a:avLst/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49701" y="3932486"/>
            <a:ext cx="0" cy="434876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946452" y="4059436"/>
            <a:ext cx="35821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关键：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不用"开发周期"单一指标，用指标组合 + A/B 对比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落地路线图：小团队切入，扩充战果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2624733" cy="583853"/>
          </a:xfrm>
          <a:prstGeom prst="roundRect">
            <a:avLst>
              <a:gd name="adj" fmla="val 130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1192" y="1215926"/>
            <a:ext cx="24182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自顶向下推动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1192" y="1441252"/>
            <a:ext cx="2418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管理层定方向、给资源、设可量化目标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59634" y="1114425"/>
            <a:ext cx="2624733" cy="583853"/>
          </a:xfrm>
          <a:prstGeom prst="roundRect">
            <a:avLst>
              <a:gd name="adj" fmla="val 130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62876" y="1215926"/>
            <a:ext cx="24182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自下向上落实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62876" y="1441252"/>
            <a:ext cx="2418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一线团队选场景、出成果、沉淀方法论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11317" y="1114425"/>
            <a:ext cx="2624733" cy="583853"/>
          </a:xfrm>
          <a:prstGeom prst="roundRect">
            <a:avLst>
              <a:gd name="adj" fmla="val 130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14559" y="1215926"/>
            <a:ext cx="24182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小团队切入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14559" y="1441252"/>
            <a:ext cx="2418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个痛感最强团队打样 → 复制到全公司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875979"/>
            <a:ext cx="1974800" cy="3115121"/>
          </a:xfrm>
          <a:prstGeom prst="roundRect">
            <a:avLst>
              <a:gd name="adj" fmla="val 3859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2002929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 1-2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9451" y="2173039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451" y="2423815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产研试点 1 个项目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9451" y="2581126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部署 + 跑通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451" y="2738438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管理层对齐目标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9451" y="2895749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产出提效数据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58951" y="1875979"/>
            <a:ext cx="1974949" cy="3115121"/>
          </a:xfrm>
          <a:prstGeom prst="roundRect">
            <a:avLst>
              <a:gd name="adj" fmla="val 385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60452" y="2002929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 2-4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60452" y="2173039"/>
            <a:ext cx="18073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60452" y="2423815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扩展到客服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60452" y="2581126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 AI 上线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60452" y="2738438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L0-L2 测试覆盖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60452" y="2895749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安全体系搭建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0100" y="1875979"/>
            <a:ext cx="1974800" cy="3115121"/>
          </a:xfrm>
          <a:prstGeom prst="roundRect">
            <a:avLst>
              <a:gd name="adj" fmla="val 385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11601" y="2002929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 4-6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11601" y="2173039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11601" y="2423815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 + 供应商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1601" y="2581126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个业务 Agent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11601" y="2738438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数据安全加固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11601" y="2895749"/>
            <a:ext cx="18072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知识体系建设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61100" y="1875979"/>
            <a:ext cx="1974949" cy="3115121"/>
          </a:xfrm>
          <a:prstGeom prst="roundRect">
            <a:avLst>
              <a:gd name="adj" fmla="val 3858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62601" y="2002929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 6-12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62601" y="2173039"/>
            <a:ext cx="18073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深化期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2601" y="2423815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全面运营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62601" y="2581126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全部门 AI 赋能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2601" y="2738438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运维阶段一试点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62601" y="2895749"/>
            <a:ext cx="180738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持续优化迭代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422350"/>
            <a:ext cx="492803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62000" y="2546300"/>
            <a:ext cx="7620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2774900"/>
            <a:ext cx="49280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转型中最大的变量：人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3435251"/>
            <a:ext cx="4928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知识工作者蓄意破坏 AI 引入，为什么？怎么办？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知识工作者蓄意破坏 AI 引入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40158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年调查数据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16" y="1463576"/>
            <a:ext cx="7259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46597" y="1503462"/>
            <a:ext cx="31604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员工承认蓄意破坏公司 AI 推广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46597" y="1668363"/>
            <a:ext cx="31604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群体高达 44%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16" y="1949351"/>
            <a:ext cx="7259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46597" y="2071688"/>
            <a:ext cx="31604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高管认为员工破坏已构成公司未来严重威胁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16" y="2435126"/>
            <a:ext cx="7259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46597" y="2557463"/>
            <a:ext cx="31604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企业计划裁掉拒绝使用 AI 的员工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16" y="2920901"/>
            <a:ext cx="7259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46597" y="3043238"/>
            <a:ext cx="31604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企业因员工使用未授权 AI 遭遇数据泄露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981" y="3406676"/>
            <a:ext cx="71241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33351" y="3529013"/>
            <a:ext cx="317393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熟练者获得晋升加薪概率是抵制者的 3 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950" y="1114425"/>
            <a:ext cx="40158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破坏行为的具体形式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98950" y="1463576"/>
            <a:ext cx="3937099" cy="390227"/>
          </a:xfrm>
          <a:prstGeom prst="roundRect">
            <a:avLst>
              <a:gd name="adj" fmla="val 195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18000" y="1463576"/>
            <a:ext cx="0" cy="39022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64001" y="1577727"/>
            <a:ext cx="3718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将公司机密数据输入公共 AI，制造安全事件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917204"/>
            <a:ext cx="3937099" cy="390227"/>
          </a:xfrm>
          <a:prstGeom prst="roundRect">
            <a:avLst>
              <a:gd name="adj" fmla="val 195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18000" y="1917204"/>
            <a:ext cx="0" cy="39022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64001" y="2031355"/>
            <a:ext cx="3718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故意输入低质量指令，产出垃圾证明"AI 不行"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2370832"/>
            <a:ext cx="3937099" cy="390227"/>
          </a:xfrm>
          <a:prstGeom prst="roundRect">
            <a:avLst>
              <a:gd name="adj" fmla="val 195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18000" y="2370832"/>
            <a:ext cx="0" cy="39022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64001" y="2484983"/>
            <a:ext cx="3718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在团队中散布 AI 恐慌言论，阻挠同事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950" y="2824460"/>
            <a:ext cx="3937099" cy="390227"/>
          </a:xfrm>
          <a:prstGeom prst="roundRect">
            <a:avLst>
              <a:gd name="adj" fmla="val 195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18000" y="2824460"/>
            <a:ext cx="0" cy="39022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64001" y="2938611"/>
            <a:ext cx="3718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AI 审核流程中故意拖延，制造效率假象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3316188"/>
            <a:ext cx="3937099" cy="841177"/>
          </a:xfrm>
          <a:prstGeom prst="roundRect">
            <a:avLst>
              <a:gd name="adj" fmla="val 9059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1350" y="3443139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恶性循环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51350" y="3681264"/>
            <a:ext cx="3704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员工恐惧 → 破坏 AI → AI 效果差 → 管理层裁人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51350" y="3855839"/>
            <a:ext cx="3704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剩余员工更恐惧 → 更多破坏……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为什么破坏？五个结构性矛盾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表层原因：怕丢饭碗（30%）。深层原因：五个管理层与员工的视角冲突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76226"/>
            <a:ext cx="2641699" cy="947589"/>
          </a:xfrm>
          <a:prstGeom prst="roundRect">
            <a:avLst>
              <a:gd name="adj" fmla="val 804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485751"/>
            <a:ext cx="2641699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34901" y="1596777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身份威胁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1815852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"10 年经验，AI 几秒就能做"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4901" y="1960513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专业身份感被摧毁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4901" y="2130623"/>
            <a:ext cx="1168450" cy="191691"/>
          </a:xfrm>
          <a:prstGeom prst="roundRect">
            <a:avLst>
              <a:gd name="adj" fmla="val 1987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101" y="2168723"/>
            <a:ext cx="10363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管理层：提效工具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54101" y="2130623"/>
            <a:ext cx="1168598" cy="191691"/>
          </a:xfrm>
          <a:prstGeom prst="roundRect">
            <a:avLst>
              <a:gd name="adj" fmla="val 19876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30301" y="2168723"/>
            <a:ext cx="103652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员工：替代威胁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51150" y="1476226"/>
            <a:ext cx="2641699" cy="947589"/>
          </a:xfrm>
          <a:prstGeom prst="roundRect">
            <a:avLst>
              <a:gd name="adj" fmla="val 804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51150" y="1485751"/>
            <a:ext cx="2641699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378101" y="1596777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权力转移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78101" y="1815852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掌握信息和技能的人失去议价权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78101" y="1960513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"不可替代性"被稀释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78101" y="2130623"/>
            <a:ext cx="1168450" cy="191691"/>
          </a:xfrm>
          <a:prstGeom prst="roundRect">
            <a:avLst>
              <a:gd name="adj" fmla="val 1987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54301" y="2168723"/>
            <a:ext cx="10363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管理层：打破孤岛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97301" y="2130623"/>
            <a:ext cx="1168598" cy="191691"/>
          </a:xfrm>
          <a:prstGeom prst="roundRect">
            <a:avLst>
              <a:gd name="adj" fmla="val 19876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73501" y="2168723"/>
            <a:ext cx="103652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员工：失去壁垒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94350" y="1476226"/>
            <a:ext cx="2641699" cy="947589"/>
          </a:xfrm>
          <a:prstGeom prst="roundRect">
            <a:avLst>
              <a:gd name="adj" fmla="val 804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994350" y="1485751"/>
            <a:ext cx="2641699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121301" y="1596777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透明度焦虑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1301" y="1815852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工作过程可追溯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21301" y="1960513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绩效无处隐藏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1301" y="2130623"/>
            <a:ext cx="1168450" cy="191691"/>
          </a:xfrm>
          <a:prstGeom prst="roundRect">
            <a:avLst>
              <a:gd name="adj" fmla="val 1987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7501" y="2168723"/>
            <a:ext cx="10363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管理层：提高可见性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40501" y="2130623"/>
            <a:ext cx="1168598" cy="191691"/>
          </a:xfrm>
          <a:prstGeom prst="roundRect">
            <a:avLst>
              <a:gd name="adj" fmla="val 19876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16701" y="2168723"/>
            <a:ext cx="103652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员工：被监控感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7950" y="2487216"/>
            <a:ext cx="2641699" cy="947589"/>
          </a:xfrm>
          <a:prstGeom prst="roundRect">
            <a:avLst>
              <a:gd name="adj" fmla="val 804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7950" y="2496741"/>
            <a:ext cx="2641699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4901" y="2607766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学习负担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4901" y="2826841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日常工作之外还要学 AI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4901" y="2971502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没有额外时间和补偿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4901" y="3141613"/>
            <a:ext cx="1168450" cy="191691"/>
          </a:xfrm>
          <a:prstGeom prst="roundRect">
            <a:avLst>
              <a:gd name="adj" fmla="val 1987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11101" y="3179713"/>
            <a:ext cx="10363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管理层：必备技能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854101" y="3141613"/>
            <a:ext cx="1168598" cy="191691"/>
          </a:xfrm>
          <a:prstGeom prst="roundRect">
            <a:avLst>
              <a:gd name="adj" fmla="val 19876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930301" y="3179713"/>
            <a:ext cx="103652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员工：无偿加码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51150" y="2487216"/>
            <a:ext cx="2641699" cy="947589"/>
          </a:xfrm>
          <a:prstGeom prst="roundRect">
            <a:avLst>
              <a:gd name="adj" fmla="val 804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251150" y="2496741"/>
            <a:ext cx="2641699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3378101" y="2607766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信任缺失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78101" y="2826841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"说是赋能不是替代"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78101" y="2971502"/>
            <a:ext cx="24355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"但 69% 企业确实在裁人"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78101" y="3141613"/>
            <a:ext cx="1168450" cy="191691"/>
          </a:xfrm>
          <a:prstGeom prst="roundRect">
            <a:avLst>
              <a:gd name="adj" fmla="val 1987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454301" y="3179713"/>
            <a:ext cx="10363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管理层：战略必要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97301" y="3141613"/>
            <a:ext cx="1168598" cy="191691"/>
          </a:xfrm>
          <a:prstGeom prst="roundRect">
            <a:avLst>
              <a:gd name="adj" fmla="val 19876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673501" y="3179713"/>
            <a:ext cx="103652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员工：口是心非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994350" y="2496741"/>
            <a:ext cx="2641699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07950" y="3548955"/>
            <a:ext cx="8128099" cy="701576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31763" y="3548955"/>
            <a:ext cx="0" cy="7015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33276" y="3675906"/>
            <a:ext cx="7879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最根本的原因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33276" y="3942606"/>
            <a:ext cx="78795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员工不是反对技术进步。他们反对的是：</a:t>
            </a:r>
            <a:r>
              <a:rPr lang="en-US" sz="10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在一个即将被重构的世界中，没有人告诉他们自己的位置在哪。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如何解决：不是说服，是重新设计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88975"/>
            <a:ext cx="4984849" cy="653058"/>
          </a:xfrm>
          <a:prstGeom prst="roundRect">
            <a:avLst>
              <a:gd name="adj" fmla="val 9723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088975"/>
            <a:ext cx="0" cy="653058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73001" y="1177826"/>
            <a:ext cx="4786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先回答"你在哪"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3001" y="1384102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每个岗位画出 AI 做什么 / 人做什么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3001" y="1518642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价值不是消失，是从"做执行"升级为"做判断"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1792784"/>
            <a:ext cx="4984849" cy="653058"/>
          </a:xfrm>
          <a:prstGeom prst="roundRect">
            <a:avLst>
              <a:gd name="adj" fmla="val 972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1792784"/>
            <a:ext cx="0" cy="653058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73001" y="1881634"/>
            <a:ext cx="4786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让最怀疑的人先体验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3001" y="2087910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选最怀疑的资深员工，给 2 周亲手体验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3001" y="2222450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大多数人亲手使用后态度会转变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50" y="2496592"/>
            <a:ext cx="4984849" cy="653058"/>
          </a:xfrm>
          <a:prstGeom prst="roundRect">
            <a:avLst>
              <a:gd name="adj" fmla="val 9723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7000" y="2496592"/>
            <a:ext cx="0" cy="653058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73001" y="2585442"/>
            <a:ext cx="4786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帮人变强，而非替代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3001" y="2791718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产出必须经过人的手：AI 起草→人审核→发送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3001" y="2926259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哲学：人的判断力是核心，不是可选项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3200400"/>
            <a:ext cx="4984849" cy="653058"/>
          </a:xfrm>
          <a:prstGeom prst="roundRect">
            <a:avLst>
              <a:gd name="adj" fmla="val 9723"/>
            </a:avLst>
          </a:prstGeom>
          <a:solidFill>
            <a:srgbClr val="F5EE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3200400"/>
            <a:ext cx="0" cy="653058"/>
          </a:xfrm>
          <a:prstGeom prst="line">
            <a:avLst/>
          </a:prstGeom>
          <a:noFill/>
          <a:ln w="381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73001" y="3289250"/>
            <a:ext cx="4786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让 adopters 获得明确收益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3001" y="3495526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技能纳入晋升标准（正向激励非惩罚）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3001" y="3630067"/>
            <a:ext cx="47867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路径：使用者 → 训练者 → 设计者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45200" y="1088975"/>
            <a:ext cx="3050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错误做法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45200" y="1400026"/>
            <a:ext cx="2990850" cy="370582"/>
          </a:xfrm>
          <a:prstGeom prst="roundRect">
            <a:avLst>
              <a:gd name="adj" fmla="val 13708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46700" y="1463427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"不学就淘汰"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46700" y="1585317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恐吓加剧对抗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45200" y="1821359"/>
            <a:ext cx="2990850" cy="370582"/>
          </a:xfrm>
          <a:prstGeom prst="roundRect">
            <a:avLst>
              <a:gd name="adj" fmla="val 13708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46700" y="1884759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强制培训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46700" y="2006650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被动不产生主动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45200" y="2242691"/>
            <a:ext cx="2990850" cy="370582"/>
          </a:xfrm>
          <a:prstGeom prst="roundRect">
            <a:avLst>
              <a:gd name="adj" fmla="val 13708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46700" y="2306092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先裁人再沟通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46700" y="2427982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信任无法挽回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45200" y="2664023"/>
            <a:ext cx="2990850" cy="370582"/>
          </a:xfrm>
          <a:prstGeom prst="roundRect">
            <a:avLst>
              <a:gd name="adj" fmla="val 13708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46700" y="2727424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只谈效率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46700" y="2849314"/>
            <a:ext cx="284360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效率是管理层语言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组织中人与 AI 的关系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485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四种关系模型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38275"/>
            <a:ext cx="4153049" cy="526852"/>
          </a:xfrm>
          <a:prstGeom prst="roundRect">
            <a:avLst>
              <a:gd name="adj" fmla="val 1446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438275"/>
            <a:ext cx="0" cy="5268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73001" y="1527125"/>
            <a:ext cx="39382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3001" y="1720751"/>
            <a:ext cx="39382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取代人做同样的事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7420" y="1630263"/>
            <a:ext cx="518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抵制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028527"/>
            <a:ext cx="4153049" cy="526852"/>
          </a:xfrm>
          <a:prstGeom prst="roundRect">
            <a:avLst>
              <a:gd name="adj" fmla="val 14463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27000" y="2028527"/>
            <a:ext cx="0" cy="52685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73001" y="2117378"/>
            <a:ext cx="39382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工具模型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3001" y="2311003"/>
            <a:ext cx="39382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是更好的工具，人用 AI 做事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7420" y="2220516"/>
            <a:ext cx="518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有限提效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618780"/>
            <a:ext cx="4153049" cy="526852"/>
          </a:xfrm>
          <a:prstGeom prst="roundRect">
            <a:avLst>
              <a:gd name="adj" fmla="val 14463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2618780"/>
            <a:ext cx="0" cy="526852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73001" y="2707630"/>
            <a:ext cx="39382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协作模型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3001" y="2901255"/>
            <a:ext cx="39382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人和 AI 各做擅长的事，流程重设计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7420" y="2825055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5-10x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950" y="3209032"/>
            <a:ext cx="4153049" cy="526852"/>
          </a:xfrm>
          <a:prstGeom prst="roundRect">
            <a:avLst>
              <a:gd name="adj" fmla="val 14463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901" y="3297882"/>
            <a:ext cx="3977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共生模型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4901" y="3491508"/>
            <a:ext cx="3977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组织围绕人 AI 协作重新构建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7420" y="3415308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10-100x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60950" y="1114425"/>
            <a:ext cx="32386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各自优势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60950" y="1438275"/>
            <a:ext cx="1549450" cy="1091654"/>
          </a:xfrm>
          <a:prstGeom prst="roundRect">
            <a:avLst>
              <a:gd name="adj" fmla="val 4653"/>
            </a:avLst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62451" y="1501676"/>
            <a:ext cx="13733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人更强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62451" y="1688902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模糊判断 / 直觉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62451" y="1844427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跨领域创新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62451" y="1999952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 / 谈判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62451" y="2155478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理解"为什么"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62451" y="2311003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承担责任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86600" y="1438275"/>
            <a:ext cx="1549450" cy="1091654"/>
          </a:xfrm>
          <a:prstGeom prst="roundRect">
            <a:avLst>
              <a:gd name="adj" fmla="val 465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88101" y="1501676"/>
            <a:ext cx="13733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更强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88101" y="1688902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精确规则执行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88101" y="1844427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已知模式变换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88101" y="1999952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高频信息处理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88101" y="2155478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海量"是什么"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88101" y="2311003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7x24 不疲劳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60950" y="2606129"/>
            <a:ext cx="3175099" cy="641152"/>
          </a:xfrm>
          <a:prstGeom prst="roundRect">
            <a:avLst>
              <a:gd name="adj" fmla="val 11885"/>
            </a:avLst>
          </a:prstGeom>
          <a:solidFill>
            <a:srgbClr val="F8F9FA"/>
          </a:solidFill>
          <a:ln w="19050">
            <a:solidFill>
              <a:srgbClr val="0D737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604078" y="2726680"/>
            <a:ext cx="288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人做决策，AI 做执行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04078" y="2926705"/>
            <a:ext cx="2888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人负责任，AI 提供能力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原生组织 vs 传统组织：核心差异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88975"/>
            <a:ext cx="8290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核心差异不是"用了 AI"，是组织结构不同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93775"/>
            <a:ext cx="8128099" cy="326827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715839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34901" y="1469975"/>
            <a:ext cx="194795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98564" y="1469975"/>
            <a:ext cx="278288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传统组织（加 AI）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80782" y="1469975"/>
            <a:ext cx="278288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原生组织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950" y="2026295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4901" y="1796802"/>
            <a:ext cx="19479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组织形态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98564" y="1796802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金字塔层级，AI 是工具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80782" y="1796802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扁平网络，AI Agent 是团队成员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031057"/>
            <a:ext cx="8128099" cy="31045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7950" y="2336750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4901" y="2107257"/>
            <a:ext cx="19479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知识存储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98564" y="2107257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在人的头脑中，随离职消失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80782" y="2107257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Git，不随人走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950" y="2647206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4901" y="2417713"/>
            <a:ext cx="19479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决策方式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98564" y="2417713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信息上传 → 上级决策 → 下达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80782" y="2417713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 → 一线直接决策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2651968"/>
            <a:ext cx="8128099" cy="31045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07950" y="2957661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4901" y="2728168"/>
            <a:ext cx="19479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团队定义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98564" y="2728168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人的集合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80782" y="2728168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 + AI Agent 混合编队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7950" y="3268117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4901" y="3038624"/>
            <a:ext cx="19479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扩展方式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98564" y="3038624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加人（边际成本高）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80782" y="3038624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 Agent（边际成本趋零）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950" y="3272879"/>
            <a:ext cx="8128099" cy="31045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7950" y="3578572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4901" y="3349079"/>
            <a:ext cx="19479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上市速度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98564" y="3349079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80782" y="3349079"/>
            <a:ext cx="278288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 3.6 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950" y="3710285"/>
            <a:ext cx="8128099" cy="383977"/>
          </a:xfrm>
          <a:prstGeom prst="roundRect">
            <a:avLst>
              <a:gd name="adj" fmla="val 1323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27000" y="3710285"/>
            <a:ext cx="0" cy="383977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23751" y="3811786"/>
            <a:ext cx="7889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案例：</a:t>
            </a: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4 名工程师 + Codex，28 天从原型到全球发布 Sora Android App。传统团队需 20+ 人、3-6 个月。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管理层必须回答的问题 + 员工应知的事实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40481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管理层该问自己的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38275"/>
            <a:ext cx="3968800" cy="685949"/>
          </a:xfrm>
          <a:prstGeom prst="roundRect">
            <a:avLst>
              <a:gd name="adj" fmla="val 111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438275"/>
            <a:ext cx="0" cy="685949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73001" y="1539776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"引入 AI 的真实目的？"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3001" y="1746052"/>
            <a:ext cx="375033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如果只是"降本裁人"，员工的恐惧完全合理。如果是"让每个人产出 10 倍"，需要全新激励机制。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2187625"/>
            <a:ext cx="3968800" cy="553938"/>
          </a:xfrm>
          <a:prstGeom prst="roundRect">
            <a:avLst>
              <a:gd name="adj" fmla="val 137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187625"/>
            <a:ext cx="0" cy="553938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73001" y="2289125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"中层管理者怎么办？"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3001" y="2495401"/>
            <a:ext cx="37503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扁平化后中层受冲击最大。需从"信息中继"转型为"判断枢纽"。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2804964"/>
            <a:ext cx="3968800" cy="553938"/>
          </a:xfrm>
          <a:prstGeom prst="roundRect">
            <a:avLst>
              <a:gd name="adj" fmla="val 137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804964"/>
            <a:ext cx="0" cy="553938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3001" y="2906464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出错谁负责？"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3001" y="3112740"/>
            <a:ext cx="37503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 AI 的错，是流程的责任。RLL 的阻塞式 Review 确保责任链清晰。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3422303"/>
            <a:ext cx="3968800" cy="553938"/>
          </a:xfrm>
          <a:prstGeom prst="roundRect">
            <a:avLst>
              <a:gd name="adj" fmla="val 137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422303"/>
            <a:ext cx="0" cy="553938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73001" y="3523804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能力不对等会撕裂组织吗？"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3001" y="3730079"/>
            <a:ext cx="375033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不主动管理差距，组织会分裂为"AI 精英"和"AI 遗民"。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7250" y="1114425"/>
            <a:ext cx="40481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一线员工应被告知的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7250" y="1438275"/>
            <a:ext cx="3968800" cy="570458"/>
          </a:xfrm>
          <a:prstGeom prst="roundRect">
            <a:avLst>
              <a:gd name="adj" fmla="val 1335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86300" y="1438275"/>
            <a:ext cx="0" cy="570458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32300" y="1539776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不会取代你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32300" y="1746052"/>
            <a:ext cx="375033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但用 AI 的人会取代不用 AI 的你。这不是恐吓，是市场选择。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7250" y="2072134"/>
            <a:ext cx="3968800" cy="718989"/>
          </a:xfrm>
          <a:prstGeom prst="roundRect">
            <a:avLst>
              <a:gd name="adj" fmla="val 1059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86300" y="2072134"/>
            <a:ext cx="0" cy="718989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32300" y="2173635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你的经验更值钱了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32300" y="2379911"/>
            <a:ext cx="375033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有经验 + AI = 100x 产出。没经验 + AI = 大量低质量内容。经验决定 AI 效果。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7250" y="2854523"/>
            <a:ext cx="3968800" cy="570458"/>
          </a:xfrm>
          <a:prstGeom prst="roundRect">
            <a:avLst>
              <a:gd name="adj" fmla="val 1335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86300" y="2854523"/>
            <a:ext cx="0" cy="570458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832300" y="2956024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 AI 是职业保险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32300" y="3162300"/>
            <a:ext cx="375033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花精力破坏 AI → 被裁。花同样精力学会 AI → 涨薪 3 倍。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7250" y="3488382"/>
            <a:ext cx="3968800" cy="570458"/>
          </a:xfrm>
          <a:prstGeom prst="roundRect">
            <a:avLst>
              <a:gd name="adj" fmla="val 1335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86300" y="3488382"/>
            <a:ext cx="0" cy="570458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832300" y="3589883"/>
            <a:ext cx="37503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判断力不可替代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32300" y="3796159"/>
            <a:ext cx="375033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 1000 个方案，决定走哪条路的还是你。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7250" y="4135041"/>
            <a:ext cx="3968800" cy="653951"/>
          </a:xfrm>
          <a:prstGeom prst="roundRect">
            <a:avLst>
              <a:gd name="adj" fmla="val 11652"/>
            </a:avLst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8817" y="4261991"/>
            <a:ext cx="36856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 AI 转型 = 明确人的位置 + 小团队先行 + 怀疑者变信徒 + 人决策 AI 执行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 RLL + Margay？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95325"/>
            <a:ext cx="634901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14425"/>
            <a:ext cx="8128099" cy="377428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487091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60350" y="1215926"/>
            <a:ext cx="190757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5325" y="1215926"/>
            <a:ext cx="27251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AI 辅助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11887" y="1215926"/>
            <a:ext cx="272519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RLL + Margay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950" y="1848148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60350" y="1593354"/>
            <a:ext cx="1907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 AI 关系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5325" y="1593354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做、人看（事后兜底）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11887" y="1593354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 AI 交替协作，人做决策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1852910"/>
            <a:ext cx="8128099" cy="36105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209205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60350" y="1954411"/>
            <a:ext cx="1907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代码质量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35325" y="1954411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写完直接用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11887" y="1954411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AI 对抗性 Review，阻塞式门禁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7950" y="2570262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0350" y="2315468"/>
            <a:ext cx="1907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知识管理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5325" y="2315468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向量库（检索片段）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11887" y="2315468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Git，可追溯可协作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950" y="2575024"/>
            <a:ext cx="8128099" cy="36105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7950" y="2931319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0350" y="2676525"/>
            <a:ext cx="1907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5325" y="2676525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生成"伪覆盖"测试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11887" y="2676525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状态矩阵，关键路径必覆盖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7950" y="3292376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60350" y="3037582"/>
            <a:ext cx="1907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5325" y="3037582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一次性对话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11887" y="3037582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轮持久化上下文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950" y="3297138"/>
            <a:ext cx="8128099" cy="36105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07950" y="3653433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60350" y="3398639"/>
            <a:ext cx="1907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35325" y="3398639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11887" y="3398639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分层防御 + 纵深控制 + 审计内置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7950" y="4014490"/>
            <a:ext cx="8128099" cy="0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60350" y="3759696"/>
            <a:ext cx="190757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落地路径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5325" y="3759696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大规模推广，铺而不深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11887" y="3759696"/>
            <a:ext cx="27251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小团队切入，扩充战果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371749"/>
            <a:ext cx="1015901" cy="5075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87952" y="1676400"/>
            <a:ext cx="376809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理顺人和 AI 的关系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535781" y="2403425"/>
            <a:ext cx="2072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500"/>
              </a:spcAft>
              <a:buNone/>
            </a:pPr>
            <a:r>
              <a:rPr lang="en-US" sz="1600" dirty="0">
                <a:solidFill>
                  <a:srgbClr val="A3E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小团队切入，扩充战果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95683" y="3562052"/>
            <a:ext cx="53526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buNone/>
            </a:pPr>
            <a:r>
              <a:rPr lang="en-US" sz="120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转型的核心不是工具，是工作流程的重构——让人和 AI 真正在一起工作。"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1802</Words>
  <Application>Microsoft Macintosh PowerPoint</Application>
  <PresentationFormat>全屏显示(16:9)</PresentationFormat>
  <Paragraphs>532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悟空出行 AI 转型全栈方案</dc:title>
  <dc:subject>基于 Ralph-Lisa Loop + Margay 的企业级 AI 落地路径</dc:subject>
  <dc:creator>OpenClaw AI</dc:creator>
  <cp:lastModifiedBy>Yi Cao</cp:lastModifiedBy>
  <cp:revision>2</cp:revision>
  <dcterms:created xsi:type="dcterms:W3CDTF">2026-04-24T14:08:32Z</dcterms:created>
  <dcterms:modified xsi:type="dcterms:W3CDTF">2026-04-24T14:20:31Z</dcterms:modified>
</cp:coreProperties>
</file>